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59" r:id="rId2"/>
    <p:sldId id="352" r:id="rId3"/>
    <p:sldId id="35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81542" autoAdjust="0"/>
  </p:normalViewPr>
  <p:slideViewPr>
    <p:cSldViewPr snapToGrid="0">
      <p:cViewPr varScale="1">
        <p:scale>
          <a:sx n="88" d="100"/>
          <a:sy n="88" d="100"/>
        </p:scale>
        <p:origin x="14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09E07-7708-484F-A6A6-C784B8018E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3AB5-4165-43FE-857B-D22D4B1259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在线文档：</a:t>
            </a:r>
            <a:r>
              <a:rPr lang="en-US" altLang="zh-CN" dirty="0"/>
              <a:t>https://docs.hikvision.com/#/file/nodcnWeMzSj61zalNYx3Re0SeDF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在线文档：</a:t>
            </a:r>
            <a:r>
              <a:rPr lang="en-US" altLang="zh-CN" dirty="0"/>
              <a:t>https://docs.hikvision.com/#/file/nodcnWeMzSj61zalNYx3Re0SeDF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" t="7448" r="69446" b="81130"/>
          <a:stretch>
            <a:fillRect/>
          </a:stretch>
        </p:blipFill>
        <p:spPr>
          <a:xfrm>
            <a:off x="9183584" y="124333"/>
            <a:ext cx="2810970" cy="701758"/>
          </a:xfrm>
          <a:prstGeom prst="rect">
            <a:avLst/>
          </a:prstGeom>
        </p:spPr>
      </p:pic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950" y="0"/>
            <a:ext cx="8333069" cy="12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145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标题 微软雅黑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7A402-BEE8-4248-A260-607BAC9AA3E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AC49-F87A-43C4-832A-AD908E581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576838" y="1602857"/>
            <a:ext cx="2578813" cy="223976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该页说明现有天机方案：</a:t>
            </a:r>
            <a:endParaRPr lang="en-US" altLang="zh-CN" dirty="0"/>
          </a:p>
          <a:p>
            <a:pPr algn="ctr"/>
            <a:r>
              <a:rPr lang="en-US" altLang="zh-CN" dirty="0"/>
              <a:t>1.</a:t>
            </a:r>
            <a:r>
              <a:rPr lang="zh-CN" altLang="en-US" dirty="0"/>
              <a:t>使用的大模型方案（微调</a:t>
            </a:r>
            <a:r>
              <a:rPr lang="en-US" altLang="zh-CN" dirty="0"/>
              <a:t>/</a:t>
            </a:r>
            <a:r>
              <a:rPr lang="zh-CN" altLang="en-US" dirty="0"/>
              <a:t>通用？）</a:t>
            </a:r>
            <a:endParaRPr lang="en-US" altLang="zh-CN" dirty="0"/>
          </a:p>
          <a:p>
            <a:pPr algn="ctr"/>
            <a:r>
              <a:rPr lang="en-US" altLang="zh-CN" dirty="0"/>
              <a:t>2.</a:t>
            </a:r>
            <a:r>
              <a:rPr lang="zh-CN" altLang="en-US" dirty="0"/>
              <a:t>支持哪些能力，按大类划分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545" y="252217"/>
            <a:ext cx="8715768" cy="530598"/>
            <a:chOff x="0" y="339502"/>
            <a:chExt cx="7210698" cy="438973"/>
          </a:xfrm>
        </p:grpSpPr>
        <p:sp>
          <p:nvSpPr>
            <p:cNvPr id="13" name="矩形 12"/>
            <p:cNvSpPr/>
            <p:nvPr/>
          </p:nvSpPr>
          <p:spPr>
            <a:xfrm>
              <a:off x="150044" y="339502"/>
              <a:ext cx="7060654" cy="43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zh-CN" altLang="en-US" sz="2795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基础天机算法方案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0" y="345989"/>
              <a:ext cx="111211" cy="4324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52450">
                <a:defRPr/>
              </a:pPr>
              <a:endParaRPr lang="zh-CN" altLang="en-US" sz="218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5967768" y="3046595"/>
            <a:ext cx="1819010" cy="114043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4BLLM</a:t>
            </a:r>
          </a:p>
          <a:p>
            <a:pPr algn="ctr"/>
            <a:r>
              <a:rPr lang="en-US" altLang="zh-CN" dirty="0"/>
              <a:t>(</a:t>
            </a:r>
            <a:r>
              <a:rPr lang="zh-CN" altLang="en-US" dirty="0"/>
              <a:t>微调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101572" y="3066034"/>
            <a:ext cx="1819010" cy="114043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4BVLM</a:t>
            </a:r>
          </a:p>
          <a:p>
            <a:pPr algn="ctr"/>
            <a:r>
              <a:rPr lang="en-US" altLang="zh-CN" dirty="0"/>
              <a:t>(</a:t>
            </a:r>
            <a:r>
              <a:rPr lang="zh-CN" altLang="en-US" dirty="0"/>
              <a:t>通用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831636" y="1076302"/>
            <a:ext cx="1788848" cy="105311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检索分析</a:t>
            </a:r>
            <a:endParaRPr lang="en-US" altLang="zh-CN" dirty="0"/>
          </a:p>
          <a:p>
            <a:pPr algn="ctr"/>
            <a:r>
              <a:rPr lang="zh-CN" altLang="en-US" dirty="0"/>
              <a:t>事件折叠</a:t>
            </a:r>
          </a:p>
        </p:txBody>
      </p:sp>
      <p:sp>
        <p:nvSpPr>
          <p:cNvPr id="18" name="上箭头 17"/>
          <p:cNvSpPr/>
          <p:nvPr/>
        </p:nvSpPr>
        <p:spPr>
          <a:xfrm>
            <a:off x="3822112" y="2228315"/>
            <a:ext cx="377930" cy="617941"/>
          </a:xfrm>
          <a:prstGeom prst="upArrow">
            <a:avLst>
              <a:gd name="adj1" fmla="val 50000"/>
              <a:gd name="adj2" fmla="val 4647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101572" y="1089358"/>
            <a:ext cx="1819010" cy="102700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图像描述</a:t>
            </a:r>
          </a:p>
          <a:p>
            <a:pPr algn="ctr"/>
            <a:r>
              <a:rPr lang="zh-CN" altLang="en-US" dirty="0"/>
              <a:t>人物属性提取</a:t>
            </a:r>
          </a:p>
          <a:p>
            <a:pPr algn="ctr"/>
            <a:r>
              <a:rPr lang="en-US" altLang="zh-CN" dirty="0"/>
              <a:t>OVD</a:t>
            </a:r>
            <a:r>
              <a:rPr lang="zh-CN" altLang="en-US" dirty="0"/>
              <a:t>标签提取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420794" y="3192465"/>
            <a:ext cx="1633592" cy="887565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视频流</a:t>
            </a:r>
          </a:p>
        </p:txBody>
      </p:sp>
      <p:sp>
        <p:nvSpPr>
          <p:cNvPr id="2" name="矩形 1"/>
          <p:cNvSpPr/>
          <p:nvPr/>
        </p:nvSpPr>
        <p:spPr>
          <a:xfrm>
            <a:off x="8882742" y="3046595"/>
            <a:ext cx="1737741" cy="61794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Embedding</a:t>
            </a:r>
          </a:p>
          <a:p>
            <a:pPr algn="ctr"/>
            <a:r>
              <a:rPr lang="en-US" altLang="zh-CN" dirty="0"/>
              <a:t>BM25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882742" y="3731580"/>
            <a:ext cx="1737741" cy="455574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Rerank</a:t>
            </a:r>
            <a:endParaRPr lang="zh-CN" altLang="en-US" dirty="0"/>
          </a:p>
        </p:txBody>
      </p:sp>
      <p:sp>
        <p:nvSpPr>
          <p:cNvPr id="7" name="右箭头 6"/>
          <p:cNvSpPr/>
          <p:nvPr userDrawn="1"/>
        </p:nvSpPr>
        <p:spPr>
          <a:xfrm>
            <a:off x="2288392" y="3433492"/>
            <a:ext cx="696272" cy="4055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9610" y="1109388"/>
            <a:ext cx="1819010" cy="99244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短描述</a:t>
            </a:r>
          </a:p>
          <a:p>
            <a:pPr algn="ctr"/>
            <a:r>
              <a:rPr lang="zh-CN" altLang="en-US" dirty="0"/>
              <a:t>文本属性提取</a:t>
            </a:r>
          </a:p>
          <a:p>
            <a:pPr algn="ctr"/>
            <a:r>
              <a:rPr lang="zh-CN" altLang="en-US" dirty="0"/>
              <a:t>事件总结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420794" y="4989672"/>
            <a:ext cx="1633593" cy="88756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用户输入</a:t>
            </a:r>
          </a:p>
        </p:txBody>
      </p:sp>
      <p:sp>
        <p:nvSpPr>
          <p:cNvPr id="27" name="矩形 26"/>
          <p:cNvSpPr/>
          <p:nvPr/>
        </p:nvSpPr>
        <p:spPr>
          <a:xfrm>
            <a:off x="6022752" y="4943843"/>
            <a:ext cx="1766790" cy="10095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用户改写</a:t>
            </a:r>
          </a:p>
        </p:txBody>
      </p:sp>
      <p:sp>
        <p:nvSpPr>
          <p:cNvPr id="28" name="矩形 27"/>
          <p:cNvSpPr/>
          <p:nvPr/>
        </p:nvSpPr>
        <p:spPr>
          <a:xfrm>
            <a:off x="8882743" y="4941534"/>
            <a:ext cx="1819010" cy="9924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总结回答</a:t>
            </a:r>
            <a:endParaRPr lang="en-US" altLang="zh-CN" dirty="0"/>
          </a:p>
          <a:p>
            <a:pPr algn="ctr"/>
            <a:r>
              <a:rPr lang="zh-CN" altLang="en-US" dirty="0"/>
              <a:t>猜你想问</a:t>
            </a:r>
          </a:p>
        </p:txBody>
      </p:sp>
      <p:sp>
        <p:nvSpPr>
          <p:cNvPr id="35" name="右箭头 34"/>
          <p:cNvSpPr/>
          <p:nvPr userDrawn="1"/>
        </p:nvSpPr>
        <p:spPr>
          <a:xfrm>
            <a:off x="2304131" y="5220220"/>
            <a:ext cx="3517079" cy="42646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" name="右箭头 6">
            <a:extLst>
              <a:ext uri="{FF2B5EF4-FFF2-40B4-BE49-F238E27FC236}">
                <a16:creationId xmlns:a16="http://schemas.microsoft.com/office/drawing/2014/main" id="{345051D2-B8C6-43F3-B609-A0BDE2A0F5AC}"/>
              </a:ext>
            </a:extLst>
          </p:cNvPr>
          <p:cNvSpPr/>
          <p:nvPr/>
        </p:nvSpPr>
        <p:spPr>
          <a:xfrm>
            <a:off x="5166345" y="3383152"/>
            <a:ext cx="696272" cy="4055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1" name="右箭头 6">
            <a:extLst>
              <a:ext uri="{FF2B5EF4-FFF2-40B4-BE49-F238E27FC236}">
                <a16:creationId xmlns:a16="http://schemas.microsoft.com/office/drawing/2014/main" id="{886FD778-8264-4EA8-80D1-B36574950958}"/>
              </a:ext>
            </a:extLst>
          </p:cNvPr>
          <p:cNvSpPr/>
          <p:nvPr/>
        </p:nvSpPr>
        <p:spPr>
          <a:xfrm>
            <a:off x="7940708" y="3422616"/>
            <a:ext cx="696272" cy="4055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2" name="上箭头 17">
            <a:extLst>
              <a:ext uri="{FF2B5EF4-FFF2-40B4-BE49-F238E27FC236}">
                <a16:creationId xmlns:a16="http://schemas.microsoft.com/office/drawing/2014/main" id="{8159FFB3-AA5D-4660-ACCE-FE0C58CB9B29}"/>
              </a:ext>
            </a:extLst>
          </p:cNvPr>
          <p:cNvSpPr/>
          <p:nvPr/>
        </p:nvSpPr>
        <p:spPr>
          <a:xfrm>
            <a:off x="6646874" y="2228314"/>
            <a:ext cx="377930" cy="617941"/>
          </a:xfrm>
          <a:prstGeom prst="upArrow">
            <a:avLst>
              <a:gd name="adj1" fmla="val 50000"/>
              <a:gd name="adj2" fmla="val 4647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上箭头 17">
            <a:extLst>
              <a:ext uri="{FF2B5EF4-FFF2-40B4-BE49-F238E27FC236}">
                <a16:creationId xmlns:a16="http://schemas.microsoft.com/office/drawing/2014/main" id="{D783C71B-5B96-47EE-85A4-79F97207ECEA}"/>
              </a:ext>
            </a:extLst>
          </p:cNvPr>
          <p:cNvSpPr/>
          <p:nvPr/>
        </p:nvSpPr>
        <p:spPr>
          <a:xfrm>
            <a:off x="9471636" y="2228114"/>
            <a:ext cx="377930" cy="617941"/>
          </a:xfrm>
          <a:prstGeom prst="upArrow">
            <a:avLst>
              <a:gd name="adj1" fmla="val 50000"/>
              <a:gd name="adj2" fmla="val 4647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上箭头 17">
            <a:extLst>
              <a:ext uri="{FF2B5EF4-FFF2-40B4-BE49-F238E27FC236}">
                <a16:creationId xmlns:a16="http://schemas.microsoft.com/office/drawing/2014/main" id="{7207BA5C-8C22-4EF0-BC8B-9AAEB3571DC7}"/>
              </a:ext>
            </a:extLst>
          </p:cNvPr>
          <p:cNvSpPr/>
          <p:nvPr/>
        </p:nvSpPr>
        <p:spPr>
          <a:xfrm flipV="1">
            <a:off x="6646874" y="4278484"/>
            <a:ext cx="377930" cy="583583"/>
          </a:xfrm>
          <a:prstGeom prst="upArrow">
            <a:avLst>
              <a:gd name="adj1" fmla="val 50000"/>
              <a:gd name="adj2" fmla="val 4647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6">
            <a:extLst>
              <a:ext uri="{FF2B5EF4-FFF2-40B4-BE49-F238E27FC236}">
                <a16:creationId xmlns:a16="http://schemas.microsoft.com/office/drawing/2014/main" id="{3991D9C8-324D-441E-93B3-9BF8CD16B75C}"/>
              </a:ext>
            </a:extLst>
          </p:cNvPr>
          <p:cNvSpPr/>
          <p:nvPr/>
        </p:nvSpPr>
        <p:spPr>
          <a:xfrm>
            <a:off x="8032856" y="5245885"/>
            <a:ext cx="696272" cy="4055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587" y="517426"/>
            <a:ext cx="5095082" cy="4550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540"/>
              </a:lnSpc>
            </a:pPr>
            <a:endParaRPr lang="en-US" sz="2835" dirty="0"/>
          </a:p>
        </p:txBody>
      </p:sp>
      <p:grpSp>
        <p:nvGrpSpPr>
          <p:cNvPr id="29" name="组合 28"/>
          <p:cNvGrpSpPr/>
          <p:nvPr/>
        </p:nvGrpSpPr>
        <p:grpSpPr>
          <a:xfrm>
            <a:off x="8545" y="252217"/>
            <a:ext cx="8715768" cy="530598"/>
            <a:chOff x="0" y="339502"/>
            <a:chExt cx="7210698" cy="438973"/>
          </a:xfrm>
        </p:grpSpPr>
        <p:sp>
          <p:nvSpPr>
            <p:cNvPr id="30" name="矩形 29"/>
            <p:cNvSpPr/>
            <p:nvPr/>
          </p:nvSpPr>
          <p:spPr>
            <a:xfrm>
              <a:off x="150044" y="339502"/>
              <a:ext cx="7060654" cy="43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795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基础天机详细规划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0" y="345989"/>
              <a:ext cx="111211" cy="4324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52450">
                <a:defRPr/>
              </a:pPr>
              <a:endParaRPr lang="zh-CN" altLang="en-US" sz="218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720524" y="892644"/>
          <a:ext cx="10407650" cy="56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4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3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方向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任务分类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主要任务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时间点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边侧多模态应用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耗时与效果优化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提升多模态感知效果、检索效果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与厂商优化调用耗时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持续进行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多语言支持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LLM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模型功能合并微调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德、意、法小语种支持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号已交付初版</a:t>
                      </a:r>
                    </a:p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持续优化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Q1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末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ReID</a:t>
                      </a:r>
                      <a:r>
                        <a:rPr lang="zh-CN" altLang="en-US" sz="16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优化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开发验证高帧率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ReID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方案，提升边侧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ReID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效果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Q1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末验证</a:t>
                      </a:r>
                      <a:endParaRPr lang="en-US" altLang="zh-CN" sz="16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Q2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中交付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2B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模型替换</a:t>
                      </a:r>
                      <a:endParaRPr lang="zh-CN" altLang="en-US" sz="1600" b="1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2B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微调模型替代现有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4B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，进一步优化耗时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Q2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43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模型小型化微调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2B-VLM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落地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SFT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和蒸馏方输出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2B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可用模型，对标现有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4B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模型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应用天机与云上持续降本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2.12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（初版）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Q1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末（迭代版本）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27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强化学习优化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预研可行的强化学习微调方案，可支持少量客诉与难例的针对性微调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Q1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末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27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领域数据挖掘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针对模型问题与场景提高领域数据利用率，不断迭代模型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持续进行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27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智能家居中枢</a:t>
                      </a:r>
                      <a:endParaRPr lang="en-US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（类</a:t>
                      </a:r>
                      <a:r>
                        <a:rPr lang="en-US" altLang="zh-CN" sz="16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OpenClaw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SHC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设备控制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通过算法进行云台设备的跟踪、镜头转动等设备控制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Q2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落地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27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自动化智能家居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参考</a:t>
                      </a:r>
                      <a:r>
                        <a:rPr lang="en-US" altLang="zh-CN" sz="1600" dirty="0" err="1">
                          <a:latin typeface="+mn-ea"/>
                          <a:ea typeface="+mn-ea"/>
                        </a:rPr>
                        <a:t>OpenClaw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，通过边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云进行整体的告警策略、设备功能的调度和控制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持续预研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9490859" y="-34814"/>
            <a:ext cx="2231202" cy="9293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刷新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8545" y="252522"/>
            <a:ext cx="8715768" cy="530293"/>
            <a:chOff x="0" y="339754"/>
            <a:chExt cx="7210698" cy="438721"/>
          </a:xfrm>
        </p:grpSpPr>
        <p:sp>
          <p:nvSpPr>
            <p:cNvPr id="13" name="矩形 12"/>
            <p:cNvSpPr/>
            <p:nvPr/>
          </p:nvSpPr>
          <p:spPr>
            <a:xfrm>
              <a:off x="150044" y="339754"/>
              <a:ext cx="7060654" cy="431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zh-CN" altLang="en-US" sz="2795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天机算法组件指标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0" y="345989"/>
              <a:ext cx="111211" cy="4324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52450">
                <a:defRPr/>
              </a:pPr>
              <a:endParaRPr lang="zh-CN" altLang="en-US" sz="218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342117727"/>
              </p:ext>
            </p:extLst>
          </p:nvPr>
        </p:nvGraphicFramePr>
        <p:xfrm>
          <a:off x="1426028" y="2324100"/>
          <a:ext cx="9514116" cy="2209800"/>
        </p:xfrm>
        <a:graphic>
          <a:graphicData uri="http://schemas.openxmlformats.org/drawingml/2006/table">
            <a:tbl>
              <a:tblPr/>
              <a:tblGrid>
                <a:gridCol w="1585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5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5686">
                  <a:extLst>
                    <a:ext uri="{9D8B030D-6E8A-4147-A177-3AD203B41FA5}">
                      <a16:colId xmlns:a16="http://schemas.microsoft.com/office/drawing/2014/main" val="835354299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等线" charset="0"/>
                        </a:rPr>
                        <a:t>描述</a:t>
                      </a: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等线" charset="0"/>
                        </a:rPr>
                        <a:t>(10</a:t>
                      </a: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等线" charset="0"/>
                        </a:rPr>
                        <a:t>分）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等线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等线" charset="0"/>
                        </a:rPr>
                        <a:t>文本属性提取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等线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等线" charset="0"/>
                        </a:rPr>
                        <a:t>改写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等线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等线" charset="0"/>
                        </a:rPr>
                        <a:t>时间提取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等线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等线" charset="0"/>
                        </a:rPr>
                        <a:t>事件折叠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等线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中文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8.12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92.70%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76.88%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95%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81.2%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英文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8.08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89.22%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83.15%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84.21%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80.3%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德语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7.52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83.84%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55.30%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84.21%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78.9%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意大利语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7.96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83.08%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59.71%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84.21%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75.3%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法语</a:t>
                      </a:r>
                      <a:endParaRPr lang="en-US" altLang="en-US" sz="1800" b="0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7.84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83.32%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77.35%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86.84%</a:t>
                      </a:r>
                      <a:endParaRPr lang="en-US" altLang="en-US" sz="18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8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76.3%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394</Words>
  <Application>Microsoft Office PowerPoint</Application>
  <PresentationFormat>宽屏</PresentationFormat>
  <Paragraphs>108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王晟7</dc:creator>
  <cp:lastModifiedBy>吴佳萍6</cp:lastModifiedBy>
  <cp:revision>5</cp:revision>
  <dcterms:created xsi:type="dcterms:W3CDTF">2026-03-17T02:37:49Z</dcterms:created>
  <dcterms:modified xsi:type="dcterms:W3CDTF">2026-03-17T03:07:14Z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